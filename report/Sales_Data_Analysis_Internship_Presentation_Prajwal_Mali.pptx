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 by category</c:v>
                </c:pt>
              </c:strCache>
            </c:strRef>
          </c:tx>
          <c:spPr>
            <a:solidFill>
              <a:srgbClr val="2D69BE"/>
            </a:solidFill>
            <a:ln>
              <a:solidFill>
                <a:srgbClr val="2D69BE"/>
              </a:solidFill>
            </a:ln>
          </c:spPr>
          <c:cat>
            <c:strRef>
              <c:f>Sheet1!$A$2:$A$4</c:f>
              <c:strCache>
                <c:ptCount val="3"/>
                <c:pt idx="0">
                  <c:v>Technology</c:v>
                </c:pt>
                <c:pt idx="1">
                  <c:v>Furniture</c:v>
                </c:pt>
                <c:pt idx="2">
                  <c:v>Office Supplies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764648.41</c:v>
                </c:pt>
                <c:pt idx="1">
                  <c:v>681580.73</c:v>
                </c:pt>
                <c:pt idx="2">
                  <c:v>665702.67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numFmt formatCode="$#,##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Profit by category</c:v>
                </c:pt>
              </c:strCache>
            </c:strRef>
          </c:tx>
          <c:spPr>
            <a:solidFill>
              <a:srgbClr val="149B96"/>
            </a:solidFill>
            <a:ln>
              <a:solidFill>
                <a:srgbClr val="149B96"/>
              </a:solidFill>
            </a:ln>
          </c:spPr>
          <c:cat>
            <c:strRef>
              <c:f>Sheet1!$A$2:$A$4</c:f>
              <c:strCache>
                <c:ptCount val="3"/>
                <c:pt idx="0">
                  <c:v>Technology</c:v>
                </c:pt>
                <c:pt idx="1">
                  <c:v>Furniture</c:v>
                </c:pt>
                <c:pt idx="2">
                  <c:v>Office Supplies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135079.78</c:v>
                </c:pt>
                <c:pt idx="1">
                  <c:v>18170.06</c:v>
                </c:pt>
                <c:pt idx="2">
                  <c:v>119861.58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numFmt formatCode="$#,##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 by region</c:v>
                </c:pt>
              </c:strCache>
            </c:strRef>
          </c:tx>
          <c:spPr>
            <a:solidFill>
              <a:srgbClr val="2D69BE"/>
            </a:solidFill>
            <a:ln>
              <a:solidFill>
                <a:srgbClr val="2D69BE"/>
              </a:solidFill>
            </a:ln>
          </c:spPr>
          <c:cat>
            <c:strRef>
              <c:f>Sheet1!$A$2:$A$5</c:f>
              <c:strCache>
                <c:ptCount val="4"/>
                <c:pt idx="0">
                  <c:v>West</c:v>
                </c:pt>
                <c:pt idx="1">
                  <c:v>East</c:v>
                </c:pt>
                <c:pt idx="2">
                  <c:v>Central</c:v>
                </c:pt>
                <c:pt idx="3">
                  <c:v>South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677194.05</c:v>
                </c:pt>
                <c:pt idx="1">
                  <c:v>622585.77</c:v>
                </c:pt>
                <c:pt idx="2">
                  <c:v>466388.27</c:v>
                </c:pt>
                <c:pt idx="3">
                  <c:v>345763.72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numFmt formatCode="$#,##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Profit by region</c:v>
                </c:pt>
              </c:strCache>
            </c:strRef>
          </c:tx>
          <c:spPr>
            <a:solidFill>
              <a:srgbClr val="149B96"/>
            </a:solidFill>
            <a:ln>
              <a:solidFill>
                <a:srgbClr val="149B96"/>
              </a:solidFill>
            </a:ln>
          </c:spPr>
          <c:cat>
            <c:strRef>
              <c:f>Sheet1!$A$2:$A$5</c:f>
              <c:strCache>
                <c:ptCount val="4"/>
                <c:pt idx="0">
                  <c:v>West</c:v>
                </c:pt>
                <c:pt idx="1">
                  <c:v>East</c:v>
                </c:pt>
                <c:pt idx="2">
                  <c:v>Central</c:v>
                </c:pt>
                <c:pt idx="3">
                  <c:v>South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102491.6</c:v>
                </c:pt>
                <c:pt idx="1">
                  <c:v>82182.77</c:v>
                </c:pt>
                <c:pt idx="2">
                  <c:v>42735.11</c:v>
                </c:pt>
                <c:pt idx="3">
                  <c:v>45701.93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numFmt formatCode="$#,##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Selected high-sales months (not the full time series)</c:v>
                </c:pt>
              </c:strCache>
            </c:strRef>
          </c:tx>
          <c:spPr>
            <a:solidFill>
              <a:srgbClr val="149B96"/>
            </a:solidFill>
            <a:ln>
              <a:solidFill>
                <a:srgbClr val="149B96"/>
              </a:solidFill>
            </a:ln>
          </c:spPr>
          <c:cat>
            <c:strRef>
              <c:f>Sheet1!$A$2:$A$6</c:f>
              <c:strCache>
                <c:ptCount val="5"/>
                <c:pt idx="0">
                  <c:v>2023-09</c:v>
                </c:pt>
                <c:pt idx="1">
                  <c:v>2023-11</c:v>
                </c:pt>
                <c:pt idx="2">
                  <c:v>2025-11</c:v>
                </c:pt>
                <c:pt idx="3">
                  <c:v>2025-12</c:v>
                </c:pt>
                <c:pt idx="4">
                  <c:v>2026-09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82670.43</c:v>
                </c:pt>
                <c:pt idx="1">
                  <c:v>78826.96</c:v>
                </c:pt>
                <c:pt idx="2">
                  <c:v>79411.97</c:v>
                </c:pt>
                <c:pt idx="3">
                  <c:v>97502.28</c:v>
                </c:pt>
                <c:pt idx="4">
                  <c:v>88064.53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$#,##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0" y="0"/>
            <a:ext cx="3474720" cy="109728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1097280"/>
            <a:ext cx="2560320" cy="914400"/>
          </a:xfrm>
          <a:prstGeom prst="rect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720" y="5303520"/>
            <a:ext cx="4114800" cy="1554480"/>
          </a:xfrm>
          <a:prstGeom prst="rect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4572000" cy="64008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822960"/>
            <a:ext cx="6217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49B96"/>
                </a:solidFill>
                <a:latin typeface="Aptos"/>
              </a:rPr>
              <a:t>INTERNSHIP MINI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17320"/>
            <a:ext cx="7955279" cy="1645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Sales Data
Analysis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337560"/>
            <a:ext cx="68580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>
                <a:solidFill>
                  <a:srgbClr val="DCE6F5"/>
                </a:solidFill>
                <a:latin typeface="Aptos"/>
              </a:rPr>
              <a:t>Turning sales records into actionable business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800600"/>
            <a:ext cx="51206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Presented by Prajwal Mali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5193792"/>
            <a:ext cx="5120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DCE6F5"/>
                </a:solidFill>
                <a:latin typeface="Aptos"/>
              </a:rPr>
              <a:t>AITECHGEN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5623560"/>
            <a:ext cx="7132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DCE6F5"/>
                </a:solidFill>
                <a:latin typeface="Aptos"/>
              </a:rPr>
              <a:t>Python  •  Pandas  •  Matplotlib  • 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42341"/>
                </a:solidFill>
                <a:latin typeface="Aptos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78992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97587"/>
                </a:solidFill>
                <a:latin typeface="Aptos"/>
              </a:rPr>
              <a:t>A practical introduction to sales analysis and interactive reporting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914400" cy="54864"/>
          </a:xfrm>
          <a:prstGeom prst="rect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97587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649224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Analyze historical sales records to understand performance.</a:t>
            </a:r>
          </a:p>
          <a:p>
            <a:pPr>
              <a:spcAft>
                <a:spcPts val="15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Prepare a clean dataset for reliable calculations.</a:t>
            </a:r>
          </a:p>
          <a:p>
            <a:pPr>
              <a:spcAft>
                <a:spcPts val="15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Compare product categories, regions, and monthly trends.</a:t>
            </a:r>
          </a:p>
          <a:p>
            <a:pPr>
              <a:spcAft>
                <a:spcPts val="15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Build an interactive dashboard with filters and key metrics.</a:t>
            </a:r>
          </a:p>
          <a:p>
            <a:pPr>
              <a:spcAft>
                <a:spcPts val="15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Translate the analysis into clear business insights.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828800"/>
            <a:ext cx="3200400" cy="1097280"/>
          </a:xfrm>
          <a:prstGeom prst="roundRect">
            <a:avLst/>
          </a:prstGeom>
          <a:solidFill>
            <a:srgbClr val="F0F5FB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0" y="1828800"/>
            <a:ext cx="82296" cy="1097280"/>
          </a:xfrm>
          <a:prstGeom prst="rect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65008" y="1993392"/>
            <a:ext cx="28803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97587"/>
                </a:solidFill>
                <a:latin typeface="Aptos"/>
              </a:rPr>
              <a:t>PROJECT 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65008" y="2313432"/>
            <a:ext cx="28803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42341"/>
                </a:solidFill>
                <a:latin typeface="Aptos"/>
              </a:rPr>
              <a:t>Data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3246120"/>
            <a:ext cx="3200400" cy="1097280"/>
          </a:xfrm>
          <a:prstGeom prst="roundRect">
            <a:avLst/>
          </a:prstGeom>
          <a:solidFill>
            <a:srgbClr val="F0F5FB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0" y="3246120"/>
            <a:ext cx="82296" cy="109728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5008" y="3410712"/>
            <a:ext cx="28803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97587"/>
                </a:solidFill>
                <a:latin typeface="Aptos"/>
              </a:rPr>
              <a:t>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5008" y="3730752"/>
            <a:ext cx="28803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42341"/>
                </a:solidFill>
                <a:latin typeface="Aptos"/>
              </a:rPr>
              <a:t>Interactive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4663440"/>
            <a:ext cx="3200400" cy="1097280"/>
          </a:xfrm>
          <a:prstGeom prst="roundRect">
            <a:avLst/>
          </a:prstGeom>
          <a:solidFill>
            <a:srgbClr val="F0F5FB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0" y="4663440"/>
            <a:ext cx="82296" cy="1097280"/>
          </a:xfrm>
          <a:prstGeom prst="rect">
            <a:avLst/>
          </a:prstGeom>
          <a:solidFill>
            <a:srgbClr val="EDB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65008" y="4828031"/>
            <a:ext cx="28803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97587"/>
                </a:solidFill>
                <a:latin typeface="Aptos"/>
              </a:rPr>
              <a:t>DELIVERABLE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008" y="5148072"/>
            <a:ext cx="28803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42341"/>
                </a:solidFill>
                <a:latin typeface="Aptos"/>
              </a:rPr>
              <a:t>Insights +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42341"/>
                </a:solidFill>
                <a:latin typeface="Aptos"/>
              </a:rPr>
              <a:t>Objectives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78992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97587"/>
                </a:solidFill>
                <a:latin typeface="Aptos"/>
              </a:rPr>
              <a:t>The work follows the assignment workflow: data → cleaning → analysis → visualization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914400" cy="54864"/>
          </a:xfrm>
          <a:prstGeom prst="rect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97587"/>
                </a:solidFill>
                <a:latin typeface="Aptos"/>
              </a:rPr>
              <a:t>03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600200"/>
            <a:ext cx="502920" cy="502920"/>
          </a:xfrm>
          <a:prstGeom prst="ellipse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19072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609344"/>
            <a:ext cx="15544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2341"/>
                </a:solidFill>
                <a:latin typeface="Aptos"/>
              </a:rPr>
              <a:t>Clean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609344"/>
            <a:ext cx="7772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D3748"/>
                </a:solidFill>
                <a:latin typeface="Aptos"/>
              </a:rPr>
              <a:t>Review missing values, duplicates, data types, and dates.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459736"/>
            <a:ext cx="502920" cy="502920"/>
          </a:xfrm>
          <a:prstGeom prst="ellipse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578608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468879"/>
            <a:ext cx="15544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2341"/>
                </a:solidFill>
                <a:latin typeface="Aptos"/>
              </a:rPr>
              <a:t>Measure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468879"/>
            <a:ext cx="7772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D3748"/>
                </a:solidFill>
                <a:latin typeface="Aptos"/>
              </a:rPr>
              <a:t>Calculate sales, profit, orders, units, and margin.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319272"/>
            <a:ext cx="502920" cy="502920"/>
          </a:xfrm>
          <a:prstGeom prst="ellipse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438144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328415"/>
            <a:ext cx="15544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2341"/>
                </a:solidFill>
                <a:latin typeface="Aptos"/>
              </a:rPr>
              <a:t>Compare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3328415"/>
            <a:ext cx="7772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D3748"/>
                </a:solidFill>
                <a:latin typeface="Aptos"/>
              </a:rPr>
              <a:t>Analyze categories, regions, sub-categories, and products.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178808"/>
            <a:ext cx="502920" cy="502920"/>
          </a:xfrm>
          <a:prstGeom prst="ellipse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297680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187952"/>
            <a:ext cx="15544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2341"/>
                </a:solidFill>
                <a:latin typeface="Aptos"/>
              </a:rPr>
              <a:t>Visualize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4187952"/>
            <a:ext cx="7772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D3748"/>
                </a:solidFill>
                <a:latin typeface="Aptos"/>
              </a:rPr>
              <a:t>Build charts and a filterable Streamlit dashboard.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5038344"/>
            <a:ext cx="502920" cy="502920"/>
          </a:xfrm>
          <a:prstGeom prst="ellipse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15721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5047488"/>
            <a:ext cx="15544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2341"/>
                </a:solidFill>
                <a:latin typeface="Aptos"/>
              </a:rPr>
              <a:t>Recommend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5047488"/>
            <a:ext cx="7772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D3748"/>
                </a:solidFill>
                <a:latin typeface="Aptos"/>
              </a:rPr>
              <a:t>Summarize findings and areas for further investigation.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42341"/>
                </a:solidFill>
                <a:latin typeface="Aptos"/>
              </a:rPr>
              <a:t>Tools &amp;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78992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97587"/>
                </a:solidFill>
                <a:latin typeface="Aptos"/>
              </a:rPr>
              <a:t>A beginner-friendly Python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914400" cy="54864"/>
          </a:xfrm>
          <a:prstGeom prst="rect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97587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3246120" cy="1115568"/>
          </a:xfrm>
          <a:prstGeom prst="roundRect">
            <a:avLst/>
          </a:prstGeom>
          <a:solidFill>
            <a:srgbClr val="F0F5FB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82296" cy="1115568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56232"/>
            <a:ext cx="2926079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97587"/>
                </a:solidFill>
                <a:latin typeface="Aptos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176272"/>
            <a:ext cx="2926079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42341"/>
                </a:solidFill>
                <a:latin typeface="Aptos"/>
              </a:rPr>
              <a:t>Core programming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79" y="1691640"/>
            <a:ext cx="3246120" cy="1115568"/>
          </a:xfrm>
          <a:prstGeom prst="roundRect">
            <a:avLst/>
          </a:prstGeom>
          <a:solidFill>
            <a:srgbClr val="F0F5FB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79" y="1691640"/>
            <a:ext cx="82296" cy="1115568"/>
          </a:xfrm>
          <a:prstGeom prst="rect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7" y="1856232"/>
            <a:ext cx="2926079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97587"/>
                </a:solidFill>
                <a:latin typeface="Aptos"/>
              </a:rPr>
              <a:t>PANDAS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7" y="2176272"/>
            <a:ext cx="2926079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42341"/>
                </a:solidFill>
                <a:latin typeface="Aptos"/>
              </a:rPr>
              <a:t>Cleaning and grouping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19" y="1691640"/>
            <a:ext cx="3246120" cy="1115568"/>
          </a:xfrm>
          <a:prstGeom prst="roundRect">
            <a:avLst/>
          </a:prstGeom>
          <a:solidFill>
            <a:srgbClr val="F0F5FB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19" y="1691640"/>
            <a:ext cx="82296" cy="1115568"/>
          </a:xfrm>
          <a:prstGeom prst="rect">
            <a:avLst/>
          </a:prstGeom>
          <a:solidFill>
            <a:srgbClr val="EDB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6488" y="1856232"/>
            <a:ext cx="2926079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97587"/>
                </a:solidFill>
                <a:latin typeface="Aptos"/>
              </a:rPr>
              <a:t>NUMPY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2176272"/>
            <a:ext cx="2926079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42341"/>
                </a:solidFill>
                <a:latin typeface="Aptos"/>
              </a:rPr>
              <a:t>Numerical support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291840"/>
            <a:ext cx="3246120" cy="1115568"/>
          </a:xfrm>
          <a:prstGeom prst="roundRect">
            <a:avLst/>
          </a:prstGeom>
          <a:solidFill>
            <a:srgbClr val="F0F5FB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291840"/>
            <a:ext cx="82296" cy="1115568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3456432"/>
            <a:ext cx="2926079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97587"/>
                </a:solidFill>
                <a:latin typeface="Aptos"/>
              </a:rPr>
              <a:t>MATPLOTLIB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776472"/>
            <a:ext cx="2926079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42341"/>
                </a:solidFill>
                <a:latin typeface="Aptos"/>
              </a:rPr>
              <a:t>Static charts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79" y="3291840"/>
            <a:ext cx="3246120" cy="1115568"/>
          </a:xfrm>
          <a:prstGeom prst="roundRect">
            <a:avLst/>
          </a:prstGeom>
          <a:solidFill>
            <a:srgbClr val="F0F5FB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26279" y="3291840"/>
            <a:ext cx="82296" cy="1115568"/>
          </a:xfrm>
          <a:prstGeom prst="rect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27447" y="3456432"/>
            <a:ext cx="2926079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97587"/>
                </a:solidFill>
                <a:latin typeface="Aptos"/>
              </a:rPr>
              <a:t>STREAMLIT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7" y="3776472"/>
            <a:ext cx="2926079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42341"/>
                </a:solidFill>
                <a:latin typeface="Aptos"/>
              </a:rPr>
              <a:t>Interactive dashboard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19" y="3291840"/>
            <a:ext cx="3246120" cy="1115568"/>
          </a:xfrm>
          <a:prstGeom prst="roundRect">
            <a:avLst/>
          </a:prstGeom>
          <a:solidFill>
            <a:srgbClr val="F0F5FB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75319" y="3291840"/>
            <a:ext cx="82296" cy="1115568"/>
          </a:xfrm>
          <a:prstGeom prst="rect">
            <a:avLst/>
          </a:prstGeom>
          <a:solidFill>
            <a:srgbClr val="EDB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3456432"/>
            <a:ext cx="2926079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97587"/>
                </a:solidFill>
                <a:latin typeface="Aptos"/>
              </a:rPr>
              <a:t>GITHUB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3776472"/>
            <a:ext cx="2926079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42341"/>
                </a:solidFill>
                <a:latin typeface="Aptos"/>
              </a:rPr>
              <a:t>Versioning and sharing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166360"/>
            <a:ext cx="12801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42341"/>
                </a:solidFill>
                <a:latin typeface="Aptos"/>
              </a:rPr>
              <a:t>Workflow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5559552"/>
            <a:ext cx="1417320" cy="530352"/>
          </a:xfrm>
          <a:prstGeom prst="roundRect">
            <a:avLst/>
          </a:prstGeom>
          <a:solidFill>
            <a:srgbClr val="F0F5FB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724144"/>
            <a:ext cx="13258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142341"/>
                </a:solidFill>
                <a:latin typeface="Aptos"/>
              </a:rPr>
              <a:t>Load 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13432" y="5678424"/>
            <a:ext cx="274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49B96"/>
                </a:solidFill>
                <a:latin typeface="Aptos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79" y="5559552"/>
            <a:ext cx="1417320" cy="530352"/>
          </a:xfrm>
          <a:prstGeom prst="roundRect">
            <a:avLst/>
          </a:prstGeom>
          <a:solidFill>
            <a:srgbClr val="F0F5FB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199" y="5724144"/>
            <a:ext cx="13258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142341"/>
                </a:solidFill>
                <a:latin typeface="Aptos"/>
              </a:rPr>
              <a:t>Clean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87952" y="5678424"/>
            <a:ext cx="274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49B96"/>
                </a:solidFill>
                <a:latin typeface="Aptos"/>
              </a:rPr>
              <a:t>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5559552"/>
            <a:ext cx="1417320" cy="530352"/>
          </a:xfrm>
          <a:prstGeom prst="roundRect">
            <a:avLst/>
          </a:prstGeom>
          <a:solidFill>
            <a:srgbClr val="F0F5FB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17720" y="5724144"/>
            <a:ext cx="13258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142341"/>
                </a:solidFill>
                <a:latin typeface="Aptos"/>
              </a:rPr>
              <a:t>Analyze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62472" y="5678424"/>
            <a:ext cx="274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49B96"/>
                </a:solidFill>
                <a:latin typeface="Aptos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46520" y="5559552"/>
            <a:ext cx="1417320" cy="530352"/>
          </a:xfrm>
          <a:prstGeom prst="roundRect">
            <a:avLst/>
          </a:prstGeom>
          <a:solidFill>
            <a:srgbClr val="F0F5FB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5724144"/>
            <a:ext cx="13258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142341"/>
                </a:solidFill>
                <a:latin typeface="Aptos"/>
              </a:rPr>
              <a:t>Visualize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36992" y="5678424"/>
            <a:ext cx="274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49B96"/>
                </a:solidFill>
                <a:latin typeface="Aptos"/>
              </a:rPr>
              <a:t>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21040" y="5559552"/>
            <a:ext cx="1417320" cy="530352"/>
          </a:xfrm>
          <a:prstGeom prst="roundRect">
            <a:avLst/>
          </a:prstGeom>
          <a:solidFill>
            <a:srgbClr val="F0F5FB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66760" y="5724144"/>
            <a:ext cx="13258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142341"/>
                </a:solidFill>
                <a:latin typeface="Aptos"/>
              </a:rPr>
              <a:t>Dashboard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11512" y="5678424"/>
            <a:ext cx="274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49B96"/>
                </a:solidFill>
                <a:latin typeface="Aptos"/>
              </a:rPr>
              <a:t>›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195560" y="5559552"/>
            <a:ext cx="1417320" cy="530352"/>
          </a:xfrm>
          <a:prstGeom prst="roundRect">
            <a:avLst/>
          </a:prstGeom>
          <a:solidFill>
            <a:srgbClr val="F0F5FB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241280" y="5724144"/>
            <a:ext cx="13258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142341"/>
                </a:solidFill>
                <a:latin typeface="Aptos"/>
              </a:rPr>
              <a:t>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42341"/>
                </a:solidFill>
                <a:latin typeface="Aptos"/>
              </a:rPr>
              <a:t>Dataset &amp; Data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78992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97587"/>
                </a:solidFill>
                <a:latin typeface="Aptos"/>
              </a:rPr>
              <a:t>Data quality checks were performed before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914400" cy="54864"/>
          </a:xfrm>
          <a:prstGeom prst="rect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97587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2468880" cy="1143000"/>
          </a:xfrm>
          <a:prstGeom prst="roundRect">
            <a:avLst/>
          </a:prstGeom>
          <a:solidFill>
            <a:srgbClr val="F0F5FB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45920"/>
            <a:ext cx="82296" cy="114300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10512"/>
            <a:ext cx="21488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97587"/>
                </a:solidFill>
                <a:latin typeface="Aptos"/>
              </a:rPr>
              <a:t>ORIGINAL ROWS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130552"/>
            <a:ext cx="21488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42341"/>
                </a:solidFill>
                <a:latin typeface="Aptos"/>
              </a:rPr>
              <a:t>10,194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645920"/>
            <a:ext cx="2468880" cy="1143000"/>
          </a:xfrm>
          <a:prstGeom prst="roundRect">
            <a:avLst/>
          </a:prstGeom>
          <a:solidFill>
            <a:srgbClr val="F0F5FB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645920"/>
            <a:ext cx="82296" cy="1143000"/>
          </a:xfrm>
          <a:prstGeom prst="rect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7" y="1810512"/>
            <a:ext cx="21488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97587"/>
                </a:solidFill>
                <a:latin typeface="Aptos"/>
              </a:rPr>
              <a:t>MISSING VALUES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2130552"/>
            <a:ext cx="21488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42341"/>
                </a:solidFill>
                <a:latin typeface="Aptos"/>
              </a:rPr>
              <a:t>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645920"/>
            <a:ext cx="2468880" cy="1143000"/>
          </a:xfrm>
          <a:prstGeom prst="roundRect">
            <a:avLst/>
          </a:prstGeom>
          <a:solidFill>
            <a:srgbClr val="F0F5FB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645920"/>
            <a:ext cx="82296" cy="1143000"/>
          </a:xfrm>
          <a:prstGeom prst="rect">
            <a:avLst/>
          </a:prstGeom>
          <a:solidFill>
            <a:srgbClr val="EDB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810512"/>
            <a:ext cx="21488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97587"/>
                </a:solidFill>
                <a:latin typeface="Aptos"/>
              </a:rPr>
              <a:t>EXACT DUPLICATES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130552"/>
            <a:ext cx="21488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42341"/>
                </a:solidFill>
                <a:latin typeface="Aptos"/>
              </a:rPr>
              <a:t>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1645920"/>
            <a:ext cx="2468880" cy="1143000"/>
          </a:xfrm>
          <a:prstGeom prst="roundRect">
            <a:avLst/>
          </a:prstGeom>
          <a:solidFill>
            <a:srgbClr val="F0F5FB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69680" y="1645920"/>
            <a:ext cx="82296" cy="114300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0848" y="1810512"/>
            <a:ext cx="21488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97587"/>
                </a:solidFill>
                <a:latin typeface="Aptos"/>
              </a:rPr>
              <a:t>ROWS ANALYZED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0848" y="2130552"/>
            <a:ext cx="21488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42341"/>
                </a:solidFill>
                <a:latin typeface="Aptos"/>
              </a:rPr>
              <a:t>9,175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246120"/>
            <a:ext cx="10241280" cy="2468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Aptos"/>
              </a:defRPr>
            </a:pPr>
            <a:r>
              <a:t>The dataset includes order dates, regions, product categories, sales, quantity, discounts, and profit.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Aptos"/>
              </a:defRPr>
            </a:pPr>
            <a:r>
              <a:t>No missing values or exact duplicate rows were found in the original dataset.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Aptos"/>
              </a:defRPr>
            </a:pPr>
            <a:r>
              <a:t>1,019 records dated after 22 October 2026 were separated for review and excluded from the cleaned analysis.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Aptos"/>
              </a:defRPr>
            </a:pPr>
            <a:r>
              <a:t>Future-dated records were excluded for review, not automatically assumed to be errors.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989320"/>
            <a:ext cx="10058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697587"/>
                </a:solidFill>
                <a:latin typeface="Aptos"/>
              </a:rPr>
              <a:t>Important: conclusions describe the cleaned dataset and its date-handling rule.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42341"/>
                </a:solidFill>
                <a:latin typeface="Aptos"/>
              </a:rPr>
              <a:t>Overall Performance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78992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97587"/>
                </a:solidFill>
                <a:latin typeface="Aptos"/>
              </a:rPr>
              <a:t>Results from the cleaned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914400" cy="54864"/>
          </a:xfrm>
          <a:prstGeom prst="rect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97587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3337560" cy="1325880"/>
          </a:xfrm>
          <a:prstGeom prst="roundRect">
            <a:avLst/>
          </a:prstGeom>
          <a:solidFill>
            <a:srgbClr val="F0F5FB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45920"/>
            <a:ext cx="82296" cy="132588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10512"/>
            <a:ext cx="3017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97587"/>
                </a:solidFill>
                <a:latin typeface="Aptos"/>
              </a:rPr>
              <a:t>TOTAL SALES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130552"/>
            <a:ext cx="30175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42341"/>
                </a:solidFill>
                <a:latin typeface="Aptos"/>
              </a:rPr>
              <a:t>$2,111,931.81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45920"/>
            <a:ext cx="3337560" cy="1325880"/>
          </a:xfrm>
          <a:prstGeom prst="roundRect">
            <a:avLst/>
          </a:prstGeom>
          <a:solidFill>
            <a:srgbClr val="F0F5FB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45920"/>
            <a:ext cx="82296" cy="1325880"/>
          </a:xfrm>
          <a:prstGeom prst="rect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810512"/>
            <a:ext cx="3017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97587"/>
                </a:solidFill>
                <a:latin typeface="Aptos"/>
              </a:rPr>
              <a:t>TOTAL PROFIT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130552"/>
            <a:ext cx="30175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42341"/>
                </a:solidFill>
                <a:latin typeface="Aptos"/>
              </a:rPr>
              <a:t>$273,111.42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45920"/>
            <a:ext cx="3337560" cy="1325880"/>
          </a:xfrm>
          <a:prstGeom prst="roundRect">
            <a:avLst/>
          </a:prstGeom>
          <a:solidFill>
            <a:srgbClr val="F0F5FB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645920"/>
            <a:ext cx="82296" cy="1325880"/>
          </a:xfrm>
          <a:prstGeom prst="rect">
            <a:avLst/>
          </a:prstGeom>
          <a:solidFill>
            <a:srgbClr val="EDB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810512"/>
            <a:ext cx="3017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97587"/>
                </a:solidFill>
                <a:latin typeface="Aptos"/>
              </a:rPr>
              <a:t>UNIQUE ORDERS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130552"/>
            <a:ext cx="30175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42341"/>
                </a:solidFill>
                <a:latin typeface="Aptos"/>
              </a:rPr>
              <a:t>4,581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06040" y="3657600"/>
            <a:ext cx="3337560" cy="1325880"/>
          </a:xfrm>
          <a:prstGeom prst="roundRect">
            <a:avLst/>
          </a:prstGeom>
          <a:solidFill>
            <a:srgbClr val="F0F5FB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06040" y="3657600"/>
            <a:ext cx="82296" cy="1325880"/>
          </a:xfrm>
          <a:prstGeom prst="rect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07208" y="3822191"/>
            <a:ext cx="3017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97587"/>
                </a:solidFill>
                <a:latin typeface="Aptos"/>
              </a:rPr>
              <a:t>UNITS SOLD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07208" y="4142232"/>
            <a:ext cx="30175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42341"/>
                </a:solidFill>
                <a:latin typeface="Aptos"/>
              </a:rPr>
              <a:t>34,712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657600"/>
            <a:ext cx="3337560" cy="1325880"/>
          </a:xfrm>
          <a:prstGeom prst="roundRect">
            <a:avLst/>
          </a:prstGeom>
          <a:solidFill>
            <a:srgbClr val="F0F5FB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657600"/>
            <a:ext cx="82296" cy="132588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7" y="3822191"/>
            <a:ext cx="3017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97587"/>
                </a:solidFill>
                <a:latin typeface="Aptos"/>
              </a:rPr>
              <a:t>PROFIT MARGIN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7" y="4142232"/>
            <a:ext cx="30175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42341"/>
                </a:solidFill>
                <a:latin typeface="Aptos"/>
              </a:rPr>
              <a:t>12.93%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5577840"/>
            <a:ext cx="70408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697587"/>
                </a:solidFill>
                <a:latin typeface="Aptos"/>
              </a:rPr>
              <a:t>Profit margin = total profit ÷ total sales × 100.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42341"/>
                </a:solidFill>
                <a:latin typeface="Aptos"/>
              </a:rPr>
              <a:t>Product Category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78992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97587"/>
                </a:solidFill>
                <a:latin typeface="Aptos"/>
              </a:rPr>
              <a:t>Technology leads both sales and profit in the cleaned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914400" cy="54864"/>
          </a:xfrm>
          <a:prstGeom prst="rect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97587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51206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42341"/>
                </a:solidFill>
                <a:latin typeface="Aptos"/>
              </a:rPr>
              <a:t>Sales by category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22960" y="1828800"/>
          <a:ext cx="512064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09360" y="1508760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42341"/>
                </a:solidFill>
                <a:latin typeface="Aptos"/>
              </a:rPr>
              <a:t>Profit by category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309360" y="1828800"/>
          <a:ext cx="5029200" cy="3383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14400" y="5669280"/>
            <a:ext cx="102412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D3748"/>
                </a:solidFill>
                <a:latin typeface="Aptos"/>
              </a:rPr>
              <a:t>Interpretation: Furniture has substantial sales but much lower profit than Technology and Office Supplies.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42341"/>
                </a:solidFill>
                <a:latin typeface="Aptos"/>
              </a:rPr>
              <a:t>Regional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78992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97587"/>
                </a:solidFill>
                <a:latin typeface="Aptos"/>
              </a:rPr>
              <a:t>Sales and profit vary meaningfully across the four regions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914400" cy="54864"/>
          </a:xfrm>
          <a:prstGeom prst="rect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97587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51206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42341"/>
                </a:solidFill>
                <a:latin typeface="Aptos"/>
              </a:rPr>
              <a:t>Sales by region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22960" y="1828800"/>
          <a:ext cx="512064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09360" y="1508760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42341"/>
                </a:solidFill>
                <a:latin typeface="Aptos"/>
              </a:rPr>
              <a:t>Profit by region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309360" y="1828800"/>
          <a:ext cx="5029200" cy="3383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14400" y="5669280"/>
            <a:ext cx="102412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D3748"/>
                </a:solidFill>
                <a:latin typeface="Aptos"/>
              </a:rPr>
              <a:t>West has the highest sales and profit. Central has the lowest regional profit.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42341"/>
                </a:solidFill>
                <a:latin typeface="Aptos"/>
              </a:rPr>
              <a:t>Monthly Sales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78992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97587"/>
                </a:solidFill>
                <a:latin typeface="Aptos"/>
              </a:rPr>
              <a:t>Sales change over time; seasonality and unusual periods merit further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914400" cy="54864"/>
          </a:xfrm>
          <a:prstGeom prst="rect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97587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2412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42341"/>
                </a:solidFill>
                <a:latin typeface="Aptos"/>
              </a:rPr>
              <a:t>Selected high-sales months (not the full time series)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1828800"/>
          <a:ext cx="1024128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5623560"/>
            <a:ext cx="102412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42341"/>
                </a:solidFill>
                <a:latin typeface="Aptos"/>
              </a:rPr>
              <a:t>Highest monthly sales in the reported results: December 2025 — $97,502.28.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89320"/>
            <a:ext cx="10241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97587"/>
                </a:solidFill>
                <a:latin typeface="Aptos"/>
              </a:rPr>
              <a:t>The live dashboard displays the full monthly trend based on selected filters.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42341"/>
                </a:solidFill>
                <a:latin typeface="Aptos"/>
              </a:rPr>
              <a:t>Product Insights &amp; Profitability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78992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97587"/>
                </a:solidFill>
                <a:latin typeface="Aptos"/>
              </a:rPr>
              <a:t>High sales do not always mean high profitability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914400" cy="54864"/>
          </a:xfrm>
          <a:prstGeom prst="rect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97587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5029200" cy="1280160"/>
          </a:xfrm>
          <a:prstGeom prst="roundRect">
            <a:avLst/>
          </a:prstGeom>
          <a:solidFill>
            <a:srgbClr val="F0F5FB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645920"/>
            <a:ext cx="82296" cy="128016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810512"/>
            <a:ext cx="47091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97587"/>
                </a:solidFill>
                <a:latin typeface="Aptos"/>
              </a:rPr>
              <a:t>TOP PRODUCT BY SALES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130552"/>
            <a:ext cx="47091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42341"/>
                </a:solidFill>
                <a:latin typeface="Aptos"/>
              </a:rPr>
              <a:t>Canon imageCLASS 2200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578608"/>
            <a:ext cx="4709160" cy="2103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97587"/>
                </a:solidFill>
                <a:latin typeface="Aptos"/>
              </a:rPr>
              <a:t>Sales: approximately $51,099.85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45920"/>
            <a:ext cx="5029200" cy="1280160"/>
          </a:xfrm>
          <a:prstGeom prst="roundRect">
            <a:avLst/>
          </a:prstGeom>
          <a:solidFill>
            <a:srgbClr val="F0F5FB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645920"/>
            <a:ext cx="82296" cy="1280160"/>
          </a:xfrm>
          <a:prstGeom prst="rect">
            <a:avLst/>
          </a:prstGeom>
          <a:solidFill>
            <a:srgbClr val="C2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1810512"/>
            <a:ext cx="47091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97587"/>
                </a:solidFill>
                <a:latin typeface="Aptos"/>
              </a:rPr>
              <a:t>LOWEST SUB-CATEGORY PROFIT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130552"/>
            <a:ext cx="47091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42341"/>
                </a:solidFill>
                <a:latin typeface="Aptos"/>
              </a:rPr>
              <a:t>Tables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578608"/>
            <a:ext cx="4709160" cy="2103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97587"/>
                </a:solidFill>
                <a:latin typeface="Aptos"/>
              </a:rPr>
              <a:t>Profit: -$15,599.77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474720"/>
            <a:ext cx="1024128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Aptos"/>
              </a:defRPr>
            </a:pPr>
            <a:r>
              <a:t>Tables recorded a negative aggregate profit in this dataset.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Aptos"/>
              </a:defRPr>
            </a:pPr>
            <a:r>
              <a:t>Bookcases also recorded negative profit (approximately -$3,115.69).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Aptos"/>
              </a:defRPr>
            </a:pPr>
            <a:r>
              <a:t>Supplies recorded negative profit (approximately -$1,235.62).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Aptos"/>
              </a:defRPr>
            </a:pPr>
            <a:r>
              <a:t>Review pricing, discounts, shipping costs, and product mix before deciding on actions.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989320"/>
            <a:ext cx="10241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697587"/>
                </a:solidFill>
                <a:latin typeface="Aptos"/>
              </a:rPr>
              <a:t>These findings identify areas to investigate; they do not establish the cause of losses.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42341"/>
                </a:solidFill>
                <a:latin typeface="Aptos"/>
              </a:rPr>
              <a:t>Key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78992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97587"/>
                </a:solidFill>
                <a:latin typeface="Aptos"/>
              </a:rPr>
              <a:t>Six descriptive findings from the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914400" cy="54864"/>
          </a:xfrm>
          <a:prstGeom prst="rect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97587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00200"/>
            <a:ext cx="5074920" cy="1024128"/>
          </a:xfrm>
          <a:prstGeom prst="roundRect">
            <a:avLst/>
          </a:prstGeom>
          <a:solidFill>
            <a:srgbClr val="F0F5FB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764792"/>
            <a:ext cx="43891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49B96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737360"/>
            <a:ext cx="4069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42341"/>
                </a:solidFill>
                <a:latin typeface="Aptos"/>
              </a:rPr>
              <a:t>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75688"/>
            <a:ext cx="4069080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Aptos"/>
              </a:rPr>
              <a:t>Highest category sales and profit.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00200"/>
            <a:ext cx="5074920" cy="1024128"/>
          </a:xfrm>
          <a:prstGeom prst="roundRect">
            <a:avLst/>
          </a:prstGeom>
          <a:solidFill>
            <a:srgbClr val="F0F5FB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764792"/>
            <a:ext cx="43891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49B96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737360"/>
            <a:ext cx="4069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42341"/>
                </a:solidFill>
                <a:latin typeface="Aptos"/>
              </a:rPr>
              <a:t>West region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075688"/>
            <a:ext cx="4069080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Aptos"/>
              </a:rPr>
              <a:t>Highest regional sales and profit.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990088"/>
            <a:ext cx="5074920" cy="1024128"/>
          </a:xfrm>
          <a:prstGeom prst="roundRect">
            <a:avLst/>
          </a:prstGeom>
          <a:solidFill>
            <a:srgbClr val="F0F5FB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154680"/>
            <a:ext cx="43891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49B96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127248"/>
            <a:ext cx="4069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42341"/>
                </a:solidFill>
                <a:latin typeface="Aptos"/>
              </a:rPr>
              <a:t>Central region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465576"/>
            <a:ext cx="4069080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Aptos"/>
              </a:rPr>
              <a:t>Lowest regional profit; investigate product mix and costs.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990088"/>
            <a:ext cx="5074920" cy="1024128"/>
          </a:xfrm>
          <a:prstGeom prst="roundRect">
            <a:avLst/>
          </a:prstGeom>
          <a:solidFill>
            <a:srgbClr val="F0F5FB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3154680"/>
            <a:ext cx="43891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49B96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127248"/>
            <a:ext cx="4069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42341"/>
                </a:solidFill>
                <a:latin typeface="Aptos"/>
              </a:rPr>
              <a:t>Furniture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465576"/>
            <a:ext cx="4069080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Aptos"/>
              </a:rPr>
              <a:t>Large sales total but relatively low profit.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379976"/>
            <a:ext cx="5074920" cy="1024128"/>
          </a:xfrm>
          <a:prstGeom prst="roundRect">
            <a:avLst/>
          </a:prstGeom>
          <a:solidFill>
            <a:srgbClr val="F0F5FB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4544568"/>
            <a:ext cx="43891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49B96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517136"/>
            <a:ext cx="4069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42341"/>
                </a:solidFill>
                <a:latin typeface="Aptos"/>
              </a:rPr>
              <a:t>Tables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855464"/>
            <a:ext cx="4069080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Aptos"/>
              </a:rPr>
              <a:t>Lowest sub-category profit; review pricing and discounts.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379976"/>
            <a:ext cx="5074920" cy="1024128"/>
          </a:xfrm>
          <a:prstGeom prst="roundRect">
            <a:avLst/>
          </a:prstGeom>
          <a:solidFill>
            <a:srgbClr val="F0F5FB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5392" y="4544568"/>
            <a:ext cx="43891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49B96"/>
                </a:solidFill>
                <a:latin typeface="Apto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517136"/>
            <a:ext cx="4069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42341"/>
                </a:solidFill>
                <a:latin typeface="Aptos"/>
              </a:rPr>
              <a:t>Top product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855464"/>
            <a:ext cx="4069080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Aptos"/>
              </a:rPr>
              <a:t>Canon imageCLASS 2200 Advanced Copier leads product sales.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42341"/>
                </a:solidFill>
                <a:latin typeface="Aptos"/>
              </a:rPr>
              <a:t>Interactive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78992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97587"/>
                </a:solidFill>
                <a:latin typeface="Aptos"/>
              </a:rPr>
              <a:t>Built with Streamlit for exploring the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914400" cy="54864"/>
          </a:xfrm>
          <a:prstGeom prst="rect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97587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42416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KPI cards: total sales, total profit, orders, units sold, and profit margin.</a:t>
            </a:r>
          </a:p>
          <a:p>
            <a:pPr>
              <a:spcAft>
                <a:spcPts val="13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Sidebar filters: category, region, customer segment, and order-date range.</a:t>
            </a:r>
          </a:p>
          <a:p>
            <a:pPr>
              <a:spcAft>
                <a:spcPts val="13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Charts: category sales and profit, regional performance, monthly sales trend, and sub-category profitability.</a:t>
            </a:r>
          </a:p>
          <a:p>
            <a:pPr>
              <a:spcAft>
                <a:spcPts val="13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Top-selling products table and chart, with selectable top 5, 10, or 15.</a:t>
            </a:r>
          </a:p>
          <a:p>
            <a:pPr>
              <a:spcAft>
                <a:spcPts val="13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Business insights update when filters change.</a:t>
            </a:r>
          </a:p>
          <a:p>
            <a:pPr>
              <a:spcAft>
                <a:spcPts val="13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Filtered dataset can be downloaded as CSV.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897880"/>
            <a:ext cx="103327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D69BE"/>
                </a:solidFill>
                <a:latin typeface="Aptos"/>
              </a:rPr>
              <a:t>Run locally:  python -m streamlit run dashboard/app.py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42341"/>
                </a:solidFill>
                <a:latin typeface="Aptos"/>
              </a:rPr>
              <a:t>Limitations &amp; Responsible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78992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97587"/>
                </a:solidFill>
                <a:latin typeface="Aptos"/>
              </a:rPr>
              <a:t>What the results can and cannot tell us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914400" cy="54864"/>
          </a:xfrm>
          <a:prstGeom prst="rect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97587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05840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The analysis is descriptive and based on the provided sample dataset.</a:t>
            </a:r>
          </a:p>
          <a:p>
            <a:pPr>
              <a:spcAft>
                <a:spcPts val="15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Records dated after 22 October 2026 were held out for review; date quality should be confirmed with the dataset owner.</a:t>
            </a:r>
          </a:p>
          <a:p>
            <a:pPr>
              <a:spcAft>
                <a:spcPts val="15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A relationship between discount level and profit does not prove that discounts caused losses.</a:t>
            </a:r>
          </a:p>
          <a:p>
            <a:pPr>
              <a:spcAft>
                <a:spcPts val="15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Business recommendations should be validated with additional information such as costs, shipping, and campaign context.</a:t>
            </a:r>
          </a:p>
          <a:p>
            <a:pPr>
              <a:spcAft>
                <a:spcPts val="15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The dashboard uses the cleaned CSV included in the repository.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96012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987552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100" b="1">
                <a:solidFill>
                  <a:srgbClr val="E1EBF7"/>
                </a:solidFill>
                <a:latin typeface="Aptos"/>
              </a:rPr>
              <a:t>The project converts raw sales records into a reusable analysis workflow and an interactive dashboard.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0"/>
            <a:ext cx="987552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Data quality was checked and the analysis dataset was documented.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Key sales and profitability patterns were identified across categories, regions, and products.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The Streamlit dashboard makes the results easier to explore.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The next step is to discuss findings with the mentor and validate recommendations.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97880"/>
            <a:ext cx="36576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49B96"/>
                </a:solidFill>
                <a:latin typeface="Apto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6858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DCE6F5"/>
                </a:solidFill>
                <a:latin typeface="Aptos"/>
              </a:rPr>
              <a:t>Prajwal Mali  |  AITECHGEN TECHNOLOGIES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